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789"/>
    <p:restoredTop sz="96327"/>
  </p:normalViewPr>
  <p:slideViewPr>
    <p:cSldViewPr snapToGrid="0" snapToObjects="1">
      <p:cViewPr>
        <p:scale>
          <a:sx n="132" d="100"/>
          <a:sy n="132" d="100"/>
        </p:scale>
        <p:origin x="2072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3/30/22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3/30/22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3/30/22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3/30/22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3/30/22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3/30/22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3/30/22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3/30/22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3/30/22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3/30/22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3/30/22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3/30/22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17AB82-6E3D-AD4A-87FA-ACC8662609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464" y="2304288"/>
            <a:ext cx="3443536" cy="1124712"/>
          </a:xfrm>
        </p:spPr>
        <p:txBody>
          <a:bodyPr>
            <a:noAutofit/>
          </a:bodyPr>
          <a:lstStyle/>
          <a:p>
            <a:r>
              <a:rPr lang="it-IT" sz="8000" dirty="0">
                <a:solidFill>
                  <a:schemeClr val="bg1"/>
                </a:solidFill>
                <a:latin typeface="Comic Sans MS" panose="030F0902030302020204" pitchFamily="66" charset="0"/>
                <a:cs typeface="Phosphate Inline" panose="02000506050000020004" pitchFamily="2" charset="77"/>
              </a:rPr>
              <a:t>MHW1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DF2BC8B-0281-614F-ABCB-49F8B80992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464" y="4132385"/>
            <a:ext cx="4357936" cy="1776046"/>
          </a:xfrm>
        </p:spPr>
        <p:txBody>
          <a:bodyPr>
            <a:noAutofit/>
          </a:bodyPr>
          <a:lstStyle/>
          <a:p>
            <a:r>
              <a:rPr lang="it-IT" sz="2400" dirty="0"/>
              <a:t>Andrea Gennuso</a:t>
            </a:r>
          </a:p>
          <a:p>
            <a:r>
              <a:rPr lang="it-IT" sz="2400" dirty="0"/>
              <a:t>O46002118</a:t>
            </a:r>
          </a:p>
          <a:p>
            <a:r>
              <a:rPr lang="it-IT" sz="2400" dirty="0"/>
              <a:t>02/04/2022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F0CE251C-C0D3-0D41-BCC1-855E695E4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2740" y="780387"/>
            <a:ext cx="2880009" cy="5302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627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C2E735-A975-1A4A-A828-0C608BE56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864108"/>
            <a:ext cx="3436219" cy="1369106"/>
          </a:xfrm>
        </p:spPr>
        <p:txBody>
          <a:bodyPr>
            <a:normAutofit/>
          </a:bodyPr>
          <a:lstStyle/>
          <a:p>
            <a:r>
              <a:rPr lang="it-IT" sz="2800" u="sng" dirty="0"/>
              <a:t>Layout complessivo HTML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F1DEB65E-A64C-0B4B-A587-CA147D76F7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765779"/>
            <a:ext cx="3436219" cy="5326442"/>
          </a:xfrm>
        </p:spPr>
      </p:pic>
    </p:spTree>
    <p:extLst>
      <p:ext uri="{BB962C8B-B14F-4D97-AF65-F5344CB8AC3E}">
        <p14:creationId xmlns:p14="http://schemas.microsoft.com/office/powerpoint/2010/main" val="515907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A060556-2F6F-6042-999B-C49AF9B1D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64108"/>
            <a:ext cx="1400035" cy="581871"/>
          </a:xfrm>
        </p:spPr>
        <p:txBody>
          <a:bodyPr>
            <a:normAutofit fontScale="90000"/>
          </a:bodyPr>
          <a:lstStyle/>
          <a:p>
            <a:r>
              <a:rPr lang="it-IT" u="sng" dirty="0"/>
              <a:t>Header</a:t>
            </a:r>
          </a:p>
        </p:txBody>
      </p:sp>
      <p:pic>
        <p:nvPicPr>
          <p:cNvPr id="13" name="Segnaposto contenuto 12">
            <a:extLst>
              <a:ext uri="{FF2B5EF4-FFF2-40B4-BE49-F238E27FC236}">
                <a16:creationId xmlns:a16="http://schemas.microsoft.com/office/drawing/2014/main" id="{170982B5-C443-6147-9041-BD27C9BD4E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84926" y="752920"/>
            <a:ext cx="7315200" cy="1921008"/>
          </a:xfr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4891B716-2A9E-E44E-B84C-7B281FF6B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3203" y="3512232"/>
            <a:ext cx="3469323" cy="2578100"/>
          </a:xfrm>
          <a:prstGeom prst="rect">
            <a:avLst/>
          </a:prstGeom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6DB906A3-551C-094D-A688-2EE34CF3CC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4141" y="3162581"/>
            <a:ext cx="2059101" cy="3277402"/>
          </a:xfrm>
          <a:prstGeom prst="rect">
            <a:avLst/>
          </a:prstGeom>
        </p:spPr>
      </p:pic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C8F08C70-90F6-2D47-B954-049E1CA74736}"/>
              </a:ext>
            </a:extLst>
          </p:cNvPr>
          <p:cNvSpPr txBox="1"/>
          <p:nvPr/>
        </p:nvSpPr>
        <p:spPr>
          <a:xfrm>
            <a:off x="3420555" y="1426729"/>
            <a:ext cx="8566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rgbClr val="FF0000"/>
                </a:solidFill>
              </a:rPr>
              <a:t>500px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E62A3815-933E-1F4D-B2A2-45A93C3B1CA4}"/>
              </a:ext>
            </a:extLst>
          </p:cNvPr>
          <p:cNvSpPr txBox="1"/>
          <p:nvPr/>
        </p:nvSpPr>
        <p:spPr>
          <a:xfrm>
            <a:off x="-1" y="1390258"/>
            <a:ext cx="339964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chemeClr val="bg1"/>
                </a:solidFill>
              </a:rPr>
              <a:t>All’interno dell’Header ho inserito un immagine di background alla quale ho sovrapposto un overlay di colore rgba(0, 0, 0, 0.3).</a:t>
            </a:r>
          </a:p>
          <a:p>
            <a:endParaRPr lang="it-IT" sz="1600" dirty="0">
              <a:solidFill>
                <a:schemeClr val="bg1"/>
              </a:solidFill>
            </a:endParaRPr>
          </a:p>
          <a:p>
            <a:r>
              <a:rPr lang="it-IT" sz="1600" dirty="0">
                <a:solidFill>
                  <a:schemeClr val="bg1"/>
                </a:solidFill>
              </a:rPr>
              <a:t>Inoltre sono presenti: il titolo della pagina web contenuto in &lt;h1&gt; e il menù di navigazione all’interno del tag &lt;nav&gt;.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F1FFA505-42B3-154C-9FB9-9EC0C68F9B1F}"/>
              </a:ext>
            </a:extLst>
          </p:cNvPr>
          <p:cNvSpPr txBox="1"/>
          <p:nvPr/>
        </p:nvSpPr>
        <p:spPr>
          <a:xfrm>
            <a:off x="7186458" y="2273485"/>
            <a:ext cx="17121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>
                <a:solidFill>
                  <a:srgbClr val="FF0000"/>
                </a:solidFill>
              </a:rPr>
              <a:t>Max-width: 600px</a:t>
            </a:r>
          </a:p>
        </p:txBody>
      </p:sp>
      <p:pic>
        <p:nvPicPr>
          <p:cNvPr id="29" name="Immagine 28">
            <a:extLst>
              <a:ext uri="{FF2B5EF4-FFF2-40B4-BE49-F238E27FC236}">
                <a16:creationId xmlns:a16="http://schemas.microsoft.com/office/drawing/2014/main" id="{A7CDD340-D4C1-F74A-85F6-7561167DFA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1313" y="2076359"/>
            <a:ext cx="2200065" cy="197126"/>
          </a:xfrm>
          <a:prstGeom prst="rect">
            <a:avLst/>
          </a:prstGeom>
        </p:spPr>
      </p:pic>
      <p:pic>
        <p:nvPicPr>
          <p:cNvPr id="30" name="Immagine 29">
            <a:extLst>
              <a:ext uri="{FF2B5EF4-FFF2-40B4-BE49-F238E27FC236}">
                <a16:creationId xmlns:a16="http://schemas.microsoft.com/office/drawing/2014/main" id="{BF1C3A8C-193E-C64F-8835-2ABB7BF22B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219690" y="1537437"/>
            <a:ext cx="1921006" cy="336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972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45659B-3DC3-204E-936E-C482B8440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64108"/>
            <a:ext cx="940614" cy="560584"/>
          </a:xfrm>
        </p:spPr>
        <p:txBody>
          <a:bodyPr>
            <a:normAutofit/>
          </a:bodyPr>
          <a:lstStyle/>
          <a:p>
            <a:r>
              <a:rPr lang="it-IT" sz="3200" u="sng" dirty="0"/>
              <a:t>Nav</a:t>
            </a:r>
          </a:p>
        </p:txBody>
      </p:sp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6E73FAEF-1A60-C449-AC01-570463A1E4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55362" y="764290"/>
            <a:ext cx="7315200" cy="399360"/>
          </a:xfr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289FFF1B-251E-F244-9EE8-C97F76B7825B}"/>
              </a:ext>
            </a:extLst>
          </p:cNvPr>
          <p:cNvSpPr txBox="1"/>
          <p:nvPr/>
        </p:nvSpPr>
        <p:spPr>
          <a:xfrm>
            <a:off x="0" y="1424692"/>
            <a:ext cx="343621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chemeClr val="bg1"/>
                </a:solidFill>
              </a:rPr>
              <a:t>Rappresenta il menu’ di navigazione, ed è composto da 4 links che vengono sostituiti da un tasto rapido soltanto nel caso in cui il sito web viene visitato tramite browser per determinati dispositivi mobile (funzione implementata tramite media query).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4704CEF1-526F-2B4F-9663-1335596E4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790" y="1480903"/>
            <a:ext cx="1157772" cy="490711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7F5D9823-232A-9743-AEFE-C9B5B22934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2443" y="1480903"/>
            <a:ext cx="2357386" cy="4624104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CEFFD3DC-E335-7545-893B-858668F268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2274116"/>
            <a:ext cx="2492322" cy="3819594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E8DBA8D4-EE9D-774C-A6FD-9FD2621E4A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7329" y="1480903"/>
            <a:ext cx="2128671" cy="2165531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845EF35C-7A48-D147-8DDE-2465760ABAA5}"/>
              </a:ext>
            </a:extLst>
          </p:cNvPr>
          <p:cNvSpPr txBox="1"/>
          <p:nvPr/>
        </p:nvSpPr>
        <p:spPr>
          <a:xfrm>
            <a:off x="5968455" y="686971"/>
            <a:ext cx="5679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>
                <a:solidFill>
                  <a:srgbClr val="FF0000"/>
                </a:solidFill>
              </a:rPr>
              <a:t>20px {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831E453A-E26A-FF46-B8A0-3C50BD9ADA33}"/>
              </a:ext>
            </a:extLst>
          </p:cNvPr>
          <p:cNvSpPr txBox="1"/>
          <p:nvPr/>
        </p:nvSpPr>
        <p:spPr>
          <a:xfrm>
            <a:off x="8657954" y="800394"/>
            <a:ext cx="5804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>
                <a:solidFill>
                  <a:srgbClr val="FF0000"/>
                </a:solidFill>
              </a:rPr>
              <a:t>} 10px</a:t>
            </a:r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811211C7-EA4D-3141-BF89-555395EB1B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28763" y="1838425"/>
            <a:ext cx="434607" cy="100800"/>
          </a:xfrm>
          <a:prstGeom prst="rect">
            <a:avLst/>
          </a:prstGeom>
        </p:spPr>
      </p:pic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0288D324-94B4-104E-98DF-D24ACBF45636}"/>
              </a:ext>
            </a:extLst>
          </p:cNvPr>
          <p:cNvSpPr txBox="1"/>
          <p:nvPr/>
        </p:nvSpPr>
        <p:spPr>
          <a:xfrm>
            <a:off x="10607462" y="1902998"/>
            <a:ext cx="8194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000" dirty="0">
                <a:solidFill>
                  <a:srgbClr val="FF0000"/>
                </a:solidFill>
              </a:rPr>
              <a:t>Width: 30px</a:t>
            </a:r>
          </a:p>
        </p:txBody>
      </p:sp>
    </p:spTree>
    <p:extLst>
      <p:ext uri="{BB962C8B-B14F-4D97-AF65-F5344CB8AC3E}">
        <p14:creationId xmlns:p14="http://schemas.microsoft.com/office/powerpoint/2010/main" val="3348801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B3D1F0-AABD-7442-AD1B-9F0530759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64108"/>
            <a:ext cx="1260908" cy="502832"/>
          </a:xfrm>
        </p:spPr>
        <p:txBody>
          <a:bodyPr>
            <a:noAutofit/>
          </a:bodyPr>
          <a:lstStyle/>
          <a:p>
            <a:r>
              <a:rPr lang="it-IT" sz="3200" u="sng" dirty="0"/>
              <a:t>Article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C0F467F-7572-B94B-A032-ACECA8AC8156}"/>
              </a:ext>
            </a:extLst>
          </p:cNvPr>
          <p:cNvSpPr txBox="1"/>
          <p:nvPr/>
        </p:nvSpPr>
        <p:spPr>
          <a:xfrm>
            <a:off x="1" y="1366940"/>
            <a:ext cx="343121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chemeClr val="bg1"/>
                </a:solidFill>
              </a:rPr>
              <a:t>Rappresenta il fulcro della pagina web. </a:t>
            </a:r>
          </a:p>
          <a:p>
            <a:endParaRPr lang="it-IT" sz="1600" dirty="0">
              <a:solidFill>
                <a:schemeClr val="bg1"/>
              </a:solidFill>
            </a:endParaRPr>
          </a:p>
          <a:p>
            <a:r>
              <a:rPr lang="it-IT" sz="1600" dirty="0">
                <a:solidFill>
                  <a:schemeClr val="bg1"/>
                </a:solidFill>
              </a:rPr>
              <a:t>E’ settato come flex column in modo tale da disporre al suo interno le vare &lt;section&gt; contenenti gli argomenti principali della pagina. </a:t>
            </a:r>
          </a:p>
          <a:p>
            <a:endParaRPr lang="it-IT" sz="1600" dirty="0">
              <a:solidFill>
                <a:schemeClr val="bg1"/>
              </a:solidFill>
            </a:endParaRPr>
          </a:p>
          <a:p>
            <a:r>
              <a:rPr lang="it-IT" sz="1600" dirty="0">
                <a:solidFill>
                  <a:schemeClr val="bg1"/>
                </a:solidFill>
              </a:rPr>
              <a:t>All’interno di ogni &lt;section&gt; è presente un numero che indica l’ordine della disposizione dei vari argomenti nella pagina e successivamente, sempre disposti in colonna, abbiamo titolo, descrizione e immagine riguardanti l’argomento in questione.</a:t>
            </a: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30E7C12D-5E7D-BB4A-B45B-63645524F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988" y="748606"/>
            <a:ext cx="3652895" cy="3804144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05D8F264-2C76-A646-A229-B67DFA350F30}"/>
              </a:ext>
            </a:extLst>
          </p:cNvPr>
          <p:cNvSpPr txBox="1"/>
          <p:nvPr/>
        </p:nvSpPr>
        <p:spPr>
          <a:xfrm>
            <a:off x="3984412" y="838525"/>
            <a:ext cx="9062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rgbClr val="FF0000"/>
                </a:solidFill>
              </a:rPr>
              <a:t>50px {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BF0CF1C3-2349-1D47-9CF0-641DA036C16B}"/>
              </a:ext>
            </a:extLst>
          </p:cNvPr>
          <p:cNvSpPr txBox="1"/>
          <p:nvPr/>
        </p:nvSpPr>
        <p:spPr>
          <a:xfrm>
            <a:off x="-1" y="4706230"/>
            <a:ext cx="47163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9600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9EEEEBC2-3EDE-454B-B2B0-633BFF1B19FD}"/>
              </a:ext>
            </a:extLst>
          </p:cNvPr>
          <p:cNvSpPr txBox="1"/>
          <p:nvPr/>
        </p:nvSpPr>
        <p:spPr>
          <a:xfrm>
            <a:off x="259883" y="5655338"/>
            <a:ext cx="11069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chemeClr val="bg1"/>
                </a:solidFill>
              </a:rPr>
              <a:t>: &lt;Article&gt;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F997218B-6901-2342-BE71-5BAFB13AB86B}"/>
              </a:ext>
            </a:extLst>
          </p:cNvPr>
          <p:cNvSpPr txBox="1"/>
          <p:nvPr/>
        </p:nvSpPr>
        <p:spPr>
          <a:xfrm>
            <a:off x="1159871" y="4706230"/>
            <a:ext cx="51007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9600" dirty="0">
                <a:solidFill>
                  <a:srgbClr val="0070C0"/>
                </a:solidFill>
              </a:rPr>
              <a:t>.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0BF2940A-A590-0B43-84FA-5BCFAD04601E}"/>
              </a:ext>
            </a:extLst>
          </p:cNvPr>
          <p:cNvSpPr txBox="1"/>
          <p:nvPr/>
        </p:nvSpPr>
        <p:spPr>
          <a:xfrm>
            <a:off x="1424537" y="5655338"/>
            <a:ext cx="11352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>
                <a:solidFill>
                  <a:schemeClr val="bg1"/>
                </a:solidFill>
              </a:rPr>
              <a:t>: &lt;Section&gt;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9C7735B6-439A-8142-B962-06F8C295E2FC}"/>
              </a:ext>
            </a:extLst>
          </p:cNvPr>
          <p:cNvSpPr txBox="1"/>
          <p:nvPr/>
        </p:nvSpPr>
        <p:spPr>
          <a:xfrm>
            <a:off x="4146233" y="986650"/>
            <a:ext cx="599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rgbClr val="0070C0"/>
                </a:solidFill>
              </a:rPr>
              <a:t>25px</a:t>
            </a:r>
            <a:r>
              <a:rPr lang="it-IT" sz="1200" dirty="0">
                <a:solidFill>
                  <a:srgbClr val="FF0000"/>
                </a:solidFill>
              </a:rPr>
              <a:t> </a:t>
            </a:r>
            <a:r>
              <a:rPr lang="it-IT" sz="1200" dirty="0">
                <a:solidFill>
                  <a:srgbClr val="0070C0"/>
                </a:solidFill>
              </a:rPr>
              <a:t>{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9ED01061-4400-8947-9E31-095C024A4F6F}"/>
              </a:ext>
            </a:extLst>
          </p:cNvPr>
          <p:cNvSpPr txBox="1"/>
          <p:nvPr/>
        </p:nvSpPr>
        <p:spPr>
          <a:xfrm>
            <a:off x="3632033" y="3782729"/>
            <a:ext cx="12994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solidFill>
                  <a:srgbClr val="0070C0"/>
                </a:solidFill>
              </a:rPr>
              <a:t>115px </a:t>
            </a:r>
            <a:r>
              <a:rPr lang="it-IT" sz="3200" dirty="0">
                <a:solidFill>
                  <a:srgbClr val="0070C0"/>
                </a:solidFill>
              </a:rPr>
              <a:t>{</a:t>
            </a:r>
          </a:p>
        </p:txBody>
      </p:sp>
      <p:pic>
        <p:nvPicPr>
          <p:cNvPr id="22" name="Immagine 21">
            <a:extLst>
              <a:ext uri="{FF2B5EF4-FFF2-40B4-BE49-F238E27FC236}">
                <a16:creationId xmlns:a16="http://schemas.microsoft.com/office/drawing/2014/main" id="{DC77E131-5412-6745-87F2-E1BEAB02B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139" y="4568442"/>
            <a:ext cx="3302591" cy="264865"/>
          </a:xfrm>
          <a:prstGeom prst="rect">
            <a:avLst/>
          </a:prstGeom>
        </p:spPr>
      </p:pic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5ADD7C97-9A5C-574E-A66E-7D368376D9D9}"/>
              </a:ext>
            </a:extLst>
          </p:cNvPr>
          <p:cNvSpPr txBox="1"/>
          <p:nvPr/>
        </p:nvSpPr>
        <p:spPr>
          <a:xfrm>
            <a:off x="5393969" y="4762373"/>
            <a:ext cx="10534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FF0000"/>
                </a:solidFill>
              </a:rPr>
              <a:t>Width: 80%</a:t>
            </a:r>
          </a:p>
        </p:txBody>
      </p:sp>
      <p:pic>
        <p:nvPicPr>
          <p:cNvPr id="25" name="Immagine 24">
            <a:extLst>
              <a:ext uri="{FF2B5EF4-FFF2-40B4-BE49-F238E27FC236}">
                <a16:creationId xmlns:a16="http://schemas.microsoft.com/office/drawing/2014/main" id="{50EAB9AC-97F3-AC4D-8057-1861700503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5866" y="3870176"/>
            <a:ext cx="2747098" cy="201600"/>
          </a:xfrm>
          <a:prstGeom prst="rect">
            <a:avLst/>
          </a:prstGeom>
        </p:spPr>
      </p:pic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80DD10FF-D42D-914D-AE73-174F741A067A}"/>
              </a:ext>
            </a:extLst>
          </p:cNvPr>
          <p:cNvSpPr txBox="1"/>
          <p:nvPr/>
        </p:nvSpPr>
        <p:spPr>
          <a:xfrm>
            <a:off x="5386321" y="4035118"/>
            <a:ext cx="13238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>
                <a:solidFill>
                  <a:srgbClr val="0070C0"/>
                </a:solidFill>
              </a:rPr>
              <a:t>Max-width: 800px</a:t>
            </a:r>
          </a:p>
        </p:txBody>
      </p:sp>
      <p:pic>
        <p:nvPicPr>
          <p:cNvPr id="27" name="Immagine 26">
            <a:extLst>
              <a:ext uri="{FF2B5EF4-FFF2-40B4-BE49-F238E27FC236}">
                <a16:creationId xmlns:a16="http://schemas.microsoft.com/office/drawing/2014/main" id="{7B761C12-9192-C248-84B4-991C74ACFA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6715315" y="2956198"/>
            <a:ext cx="1540044" cy="113018"/>
          </a:xfrm>
          <a:prstGeom prst="rect">
            <a:avLst/>
          </a:prstGeom>
        </p:spPr>
      </p:pic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92534146-E4A9-9B4C-8296-7FEC12C0E5D9}"/>
              </a:ext>
            </a:extLst>
          </p:cNvPr>
          <p:cNvSpPr txBox="1"/>
          <p:nvPr/>
        </p:nvSpPr>
        <p:spPr>
          <a:xfrm>
            <a:off x="7543044" y="2912706"/>
            <a:ext cx="5663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>
                <a:solidFill>
                  <a:srgbClr val="0070C0"/>
                </a:solidFill>
              </a:rPr>
              <a:t>450px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78497CC3-D45F-CB40-B836-D67361BFBCFB}"/>
              </a:ext>
            </a:extLst>
          </p:cNvPr>
          <p:cNvSpPr txBox="1"/>
          <p:nvPr/>
        </p:nvSpPr>
        <p:spPr>
          <a:xfrm>
            <a:off x="4368467" y="1992829"/>
            <a:ext cx="5629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>
                <a:solidFill>
                  <a:srgbClr val="0070C0"/>
                </a:solidFill>
              </a:rPr>
              <a:t>30px {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59F8C133-F1CA-534D-ADB3-33024C533075}"/>
              </a:ext>
            </a:extLst>
          </p:cNvPr>
          <p:cNvSpPr txBox="1"/>
          <p:nvPr/>
        </p:nvSpPr>
        <p:spPr>
          <a:xfrm rot="16200000">
            <a:off x="7357180" y="1973866"/>
            <a:ext cx="253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</a:rPr>
              <a:t>}</a:t>
            </a: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03A72705-76EA-2041-8C58-A6761941A84F}"/>
              </a:ext>
            </a:extLst>
          </p:cNvPr>
          <p:cNvSpPr txBox="1"/>
          <p:nvPr/>
        </p:nvSpPr>
        <p:spPr>
          <a:xfrm>
            <a:off x="7260560" y="1908623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000" dirty="0">
                <a:solidFill>
                  <a:srgbClr val="0070C0"/>
                </a:solidFill>
              </a:rPr>
              <a:t>40px</a:t>
            </a:r>
          </a:p>
        </p:txBody>
      </p:sp>
      <p:pic>
        <p:nvPicPr>
          <p:cNvPr id="34" name="Immagine 33">
            <a:extLst>
              <a:ext uri="{FF2B5EF4-FFF2-40B4-BE49-F238E27FC236}">
                <a16:creationId xmlns:a16="http://schemas.microsoft.com/office/drawing/2014/main" id="{93106D3D-4329-C547-86D3-A5ACC9BCD0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5335" y="90757"/>
            <a:ext cx="1636240" cy="3804144"/>
          </a:xfrm>
          <a:prstGeom prst="rect">
            <a:avLst/>
          </a:prstGeom>
        </p:spPr>
      </p:pic>
      <p:pic>
        <p:nvPicPr>
          <p:cNvPr id="10" name="Segnaposto contenuto 9">
            <a:extLst>
              <a:ext uri="{FF2B5EF4-FFF2-40B4-BE49-F238E27FC236}">
                <a16:creationId xmlns:a16="http://schemas.microsoft.com/office/drawing/2014/main" id="{1F00416B-7319-1B41-B8B5-19592DD941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8012884" y="3697171"/>
            <a:ext cx="2776526" cy="3121570"/>
          </a:xfrm>
        </p:spPr>
      </p:pic>
      <p:pic>
        <p:nvPicPr>
          <p:cNvPr id="36" name="Immagine 35">
            <a:extLst>
              <a:ext uri="{FF2B5EF4-FFF2-40B4-BE49-F238E27FC236}">
                <a16:creationId xmlns:a16="http://schemas.microsoft.com/office/drawing/2014/main" id="{873BF469-B7EA-FB43-9BB1-23851FA25A9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-1" b="43362"/>
          <a:stretch/>
        </p:blipFill>
        <p:spPr>
          <a:xfrm>
            <a:off x="4783670" y="5060677"/>
            <a:ext cx="2529126" cy="1758064"/>
          </a:xfrm>
          <a:prstGeom prst="rect">
            <a:avLst/>
          </a:prstGeom>
        </p:spPr>
      </p:pic>
      <p:pic>
        <p:nvPicPr>
          <p:cNvPr id="38" name="Immagine 37">
            <a:extLst>
              <a:ext uri="{FF2B5EF4-FFF2-40B4-BE49-F238E27FC236}">
                <a16:creationId xmlns:a16="http://schemas.microsoft.com/office/drawing/2014/main" id="{13867F0A-B966-E246-AB44-E2122447189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56612" b="-1"/>
          <a:stretch/>
        </p:blipFill>
        <p:spPr>
          <a:xfrm>
            <a:off x="7992636" y="748606"/>
            <a:ext cx="1992628" cy="1089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570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3D1E9A-B4CD-D741-8ECA-8E4E63B9D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64108"/>
            <a:ext cx="2947482" cy="464331"/>
          </a:xfrm>
        </p:spPr>
        <p:txBody>
          <a:bodyPr>
            <a:normAutofit fontScale="90000"/>
          </a:bodyPr>
          <a:lstStyle/>
          <a:p>
            <a:r>
              <a:rPr lang="it-IT" sz="3200" u="sng" dirty="0"/>
              <a:t>Footer</a:t>
            </a:r>
          </a:p>
        </p:txBody>
      </p:sp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2E61D080-0181-7A49-94E0-8C1A38E255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04112" y="757817"/>
            <a:ext cx="7315200" cy="962970"/>
          </a:xfr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941B5D9B-5BCB-BC49-98BD-52C5F5DC0AE7}"/>
              </a:ext>
            </a:extLst>
          </p:cNvPr>
          <p:cNvSpPr txBox="1"/>
          <p:nvPr/>
        </p:nvSpPr>
        <p:spPr>
          <a:xfrm>
            <a:off x="1" y="1328438"/>
            <a:ext cx="343621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chemeClr val="bg1"/>
                </a:solidFill>
              </a:rPr>
              <a:t>Rappresenta la parte finale della pagina web, la quale contiene un testo indicante il mio nome, cognome e numero di matricola.</a:t>
            </a:r>
          </a:p>
          <a:p>
            <a:endParaRPr lang="it-IT" sz="1600" dirty="0">
              <a:solidFill>
                <a:schemeClr val="bg1"/>
              </a:solidFill>
            </a:endParaRPr>
          </a:p>
          <a:p>
            <a:r>
              <a:rPr lang="it-IT" sz="1600" dirty="0">
                <a:solidFill>
                  <a:schemeClr val="bg1"/>
                </a:solidFill>
              </a:rPr>
              <a:t>E’ implementato tramite l’utilizzo del flex-box per comodità.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1C002F6E-0AD3-0D44-BAB3-BAF456214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4112" y="2273300"/>
            <a:ext cx="3608492" cy="962970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2485DA9C-3AED-CB44-9A2D-C26563C85C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9482" y="2273300"/>
            <a:ext cx="2829830" cy="3832942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0A000DA-C525-8641-B9E4-581079A3C8C8}"/>
              </a:ext>
            </a:extLst>
          </p:cNvPr>
          <p:cNvSpPr txBox="1"/>
          <p:nvPr/>
        </p:nvSpPr>
        <p:spPr>
          <a:xfrm>
            <a:off x="3580599" y="433289"/>
            <a:ext cx="52290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8800" dirty="0">
                <a:solidFill>
                  <a:srgbClr val="FF0000"/>
                </a:solidFill>
              </a:rPr>
              <a:t>{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A32C0A7-BB66-A444-88C5-245EA8BCCE2E}"/>
              </a:ext>
            </a:extLst>
          </p:cNvPr>
          <p:cNvSpPr txBox="1"/>
          <p:nvPr/>
        </p:nvSpPr>
        <p:spPr>
          <a:xfrm>
            <a:off x="3046354" y="1045011"/>
            <a:ext cx="741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rgbClr val="FF0000"/>
                </a:solidFill>
              </a:rPr>
              <a:t>150px</a:t>
            </a:r>
          </a:p>
        </p:txBody>
      </p:sp>
    </p:spTree>
    <p:extLst>
      <p:ext uri="{BB962C8B-B14F-4D97-AF65-F5344CB8AC3E}">
        <p14:creationId xmlns:p14="http://schemas.microsoft.com/office/powerpoint/2010/main" val="2880229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7ABDA2B-8E12-BC4D-B71E-E9AF6505A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33067"/>
            <a:ext cx="1386038" cy="598932"/>
          </a:xfrm>
        </p:spPr>
        <p:txBody>
          <a:bodyPr>
            <a:normAutofit/>
          </a:bodyPr>
          <a:lstStyle/>
          <a:p>
            <a:r>
              <a:rPr lang="it-IT" sz="3200" u="sng" dirty="0"/>
              <a:t>Mobile</a:t>
            </a:r>
          </a:p>
        </p:txBody>
      </p:sp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AB0F80F4-4165-A444-A2B7-AA04F50060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02875" y="764097"/>
            <a:ext cx="1872282" cy="5329806"/>
          </a:xfr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74CC8F20-7EB9-264E-93DC-30867E3481CF}"/>
              </a:ext>
            </a:extLst>
          </p:cNvPr>
          <p:cNvSpPr txBox="1"/>
          <p:nvPr/>
        </p:nvSpPr>
        <p:spPr>
          <a:xfrm>
            <a:off x="-1" y="1431999"/>
            <a:ext cx="343621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chemeClr val="bg1"/>
                </a:solidFill>
              </a:rPr>
              <a:t>Come fatto in precedenza con la barra di navigazione, tramite l’utilizzo delle media query ho implementato la visualizzazione dell’intero sito nel caso in cui si accedesse da dispositivo mobile. 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0F950318-D958-1F4F-B5B2-051B2E2B0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3423" y="754472"/>
            <a:ext cx="2479571" cy="5340615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0987F062-5184-7644-A29F-02E628FD68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7425" y="753288"/>
            <a:ext cx="2470747" cy="5340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239576"/>
      </p:ext>
    </p:extLst>
  </p:cSld>
  <p:clrMapOvr>
    <a:masterClrMapping/>
  </p:clrMapOvr>
</p:sld>
</file>

<file path=ppt/theme/theme1.xml><?xml version="1.0" encoding="utf-8"?>
<a:theme xmlns:a="http://schemas.openxmlformats.org/drawingml/2006/main" name="Cornic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Cornice</Template>
  <TotalTime>171</TotalTime>
  <Words>285</Words>
  <Application>Microsoft Macintosh PowerPoint</Application>
  <PresentationFormat>Widescreen</PresentationFormat>
  <Paragraphs>43</Paragraphs>
  <Slides>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1" baseType="lpstr">
      <vt:lpstr>Comic Sans MS</vt:lpstr>
      <vt:lpstr>Corbel</vt:lpstr>
      <vt:lpstr>Wingdings 2</vt:lpstr>
      <vt:lpstr>Cornice</vt:lpstr>
      <vt:lpstr>MHW1</vt:lpstr>
      <vt:lpstr>Layout complessivo HTML</vt:lpstr>
      <vt:lpstr>Header</vt:lpstr>
      <vt:lpstr>Nav</vt:lpstr>
      <vt:lpstr>Article</vt:lpstr>
      <vt:lpstr>Footer</vt:lpstr>
      <vt:lpstr>Mobile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MHW1</dc:title>
  <dc:creator>ANDREA GENNUSO</dc:creator>
  <cp:lastModifiedBy>ANDREA GENNUSO</cp:lastModifiedBy>
  <cp:revision>24</cp:revision>
  <dcterms:created xsi:type="dcterms:W3CDTF">2022-03-30T13:40:32Z</dcterms:created>
  <dcterms:modified xsi:type="dcterms:W3CDTF">2022-03-30T16:32:08Z</dcterms:modified>
</cp:coreProperties>
</file>